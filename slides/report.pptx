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odttf" ContentType="application/vnd.openxmlformats-officedocument.obfuscatedFont"/>
  <Default Extension="rels" ContentType="application/vnd.openxmlformats-package.relationships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metadata" ContentType="application/binary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docProps/core.xml" Id="rId1" /><Relationship Type="http://schemas.openxmlformats.org/officeDocument/2006/relationships/officeDocument" Target="ppt/presentation.xml" Id="rId2" /><Relationship Type="http://schemas.openxmlformats.org/officeDocument/2006/relationships/custom-properties" Target="/docProps/custom.xml" Id="R4c25b2a1fdff42cb" /></Relationships>
</file>

<file path=ppt/presentation.xml><?xml version="1.0" encoding="utf-8"?>
<p:presentation xmlns:go="http://customooxmlschemas.google.com/"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trictFirstAndLastChars="0" embedTrueTypeFonts="1" saveSubsetFonts="1" autoCompressPictures="0">
  <p:sldMasterIdLst>
    <p:sldMasterId id="2147483648" r:id="rId3"/>
  </p:sldMasterIdLst>
  <p:notesMasterIdLst>
    <p:notesMasterId r:id="rId4"/>
  </p:notesMasterIdLst>
  <p:sldIdLst>
    <p:sldId id="256" r:id="rId5"/>
    <p:sldId id="265" r:id="rId14"/>
    <p:sldId id="266" r:id="R831e3e3e714b4124"/>
    <p:sldId id="267" r:id="R6eda63e25ffe4a72"/>
    <p:sldId id="268" r:id="R533fae2dccd94da8"/>
    <p:sldId id="269" r:id="Redfd64b3e97840d8"/>
    <p:sldId id="270" r:id="Re44fcddaef1f45ef"/>
    <p:sldId id="271" r:id="R1fd553ecbea0417a"/>
    <p:sldId id="272" r:id="Rced9aedfcedc44d3"/>
    <p:sldId id="273" r:id="Rd7bb654bd8db43f9"/>
    <p:sldId id="274" r:id="Rbe1c6555777745ef"/>
    <p:sldId id="275" r:id="R315839a9e37f4cb6"/>
    <p:sldId id="276" r:id="R15302c98f5fe4353"/>
    <p:sldId id="277" r:id="Rc695565f5a074278"/>
    <p:sldId id="278" r:id="Rddbc31a50f424d4c"/>
    <p:sldId id="279" r:id="Rfab6ddb39ec945f7"/>
    <p:sldId id="280" r:id="R3fc783b8d17d4d16"/>
    <p:sldId id="281" r:id="R739c0d658c7e4043"/>
    <p:sldId id="282" r:id="Re0bd2dc625f142fc"/>
    <p:sldId id="283" r:id="Rf358674632764014"/>
    <p:sldId id="284" r:id="R2d8a3fcc0c3a4680"/>
  </p:sldIdLst>
  <p:sldSz cx="12192000" cy="6858000"/>
  <p:notesSz cx="6858000" cy="9144000"/>
  <p:embeddedFontLst>
    <p:embeddedFont>
      <p:font typeface="Play"/>
      <p:regular r:id="rId15"/>
      <p:bold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jxszwMuH9AEVNgRDNu5ajiigNzk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theme/theme2.xml" Id="rId1" /><Relationship Type="http://schemas.openxmlformats.org/officeDocument/2006/relationships/presProps" Target="presProps.xml" Id="rId2" /><Relationship Type="http://schemas.openxmlformats.org/officeDocument/2006/relationships/slideMaster" Target="slideMasters/slideMaster1.xml" Id="rId3" /><Relationship Type="http://schemas.openxmlformats.org/officeDocument/2006/relationships/notesMaster" Target="notesMasters/notesMaster1.xml" Id="rId4" /><Relationship Type="http://schemas.openxmlformats.org/officeDocument/2006/relationships/font" Target="fonts/Play-regular.fntdata" Id="rId15" /><Relationship Type="http://schemas.openxmlformats.org/officeDocument/2006/relationships/slide" Target="slides/slide10.xml" Id="rId14" /><Relationship Type="http://customschemas.google.com/relationships/presentationmetadata" Target="metadata" Id="rId17" /><Relationship Type="http://schemas.openxmlformats.org/officeDocument/2006/relationships/font" Target="fonts/Play-bold.fntdata" Id="rId16" /><Relationship Type="http://schemas.openxmlformats.org/officeDocument/2006/relationships/slide" Target="slides/slide1.xml" Id="rId5" /><Relationship Type="http://schemas.openxmlformats.org/officeDocument/2006/relationships/slide" Target="/ppt/slides/slide11.xml" Id="R831e3e3e714b4124" /><Relationship Type="http://schemas.openxmlformats.org/officeDocument/2006/relationships/slide" Target="/ppt/slides/slide12.xml" Id="R6eda63e25ffe4a72" /><Relationship Type="http://schemas.openxmlformats.org/officeDocument/2006/relationships/slide" Target="/ppt/slides/slide13.xml" Id="R533fae2dccd94da8" /><Relationship Type="http://schemas.openxmlformats.org/officeDocument/2006/relationships/slide" Target="/ppt/slides/slide14.xml" Id="Redfd64b3e97840d8" /><Relationship Type="http://schemas.openxmlformats.org/officeDocument/2006/relationships/slide" Target="/ppt/slides/slide15.xml" Id="Re44fcddaef1f45ef" /><Relationship Type="http://schemas.openxmlformats.org/officeDocument/2006/relationships/slide" Target="/ppt/slides/slide16.xml" Id="R1fd553ecbea0417a" /><Relationship Type="http://schemas.openxmlformats.org/officeDocument/2006/relationships/slide" Target="/ppt/slides/slide17.xml" Id="Rced9aedfcedc44d3" /><Relationship Type="http://schemas.openxmlformats.org/officeDocument/2006/relationships/slide" Target="/ppt/slides/slide18.xml" Id="Rd7bb654bd8db43f9" /><Relationship Type="http://schemas.openxmlformats.org/officeDocument/2006/relationships/slide" Target="/ppt/slides/slide19.xml" Id="Rbe1c6555777745ef" /><Relationship Type="http://schemas.openxmlformats.org/officeDocument/2006/relationships/slide" Target="/ppt/slides/slide20.xml" Id="R315839a9e37f4cb6" /><Relationship Type="http://schemas.openxmlformats.org/officeDocument/2006/relationships/slide" Target="/ppt/slides/slide21.xml" Id="R15302c98f5fe4353" /><Relationship Type="http://schemas.openxmlformats.org/officeDocument/2006/relationships/slide" Target="/ppt/slides/slide22.xml" Id="Rc695565f5a074278" /><Relationship Type="http://schemas.openxmlformats.org/officeDocument/2006/relationships/slide" Target="/ppt/slides/slide23.xml" Id="Rddbc31a50f424d4c" /><Relationship Type="http://schemas.openxmlformats.org/officeDocument/2006/relationships/slide" Target="/ppt/slides/slide24.xml" Id="Rfab6ddb39ec945f7" /><Relationship Type="http://schemas.openxmlformats.org/officeDocument/2006/relationships/slide" Target="/ppt/slides/slide25.xml" Id="R3fc783b8d17d4d16" /><Relationship Type="http://schemas.openxmlformats.org/officeDocument/2006/relationships/slide" Target="/ppt/slides/slide26.xml" Id="R739c0d658c7e4043" /><Relationship Type="http://schemas.openxmlformats.org/officeDocument/2006/relationships/slide" Target="/ppt/slides/slide27.xml" Id="Re0bd2dc625f142fc" /><Relationship Type="http://schemas.openxmlformats.org/officeDocument/2006/relationships/slide" Target="/ppt/slides/slide28.xml" Id="Rf358674632764014" /><Relationship Type="http://schemas.openxmlformats.org/officeDocument/2006/relationships/slide" Target="/ppt/slides/slide29.xml" Id="R2d8a3fcc0c3a4680" 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0803fefd9ed44a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6e61c70cb07462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4ae4313b749415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cca69798f46410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07caac09c534f9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e8af2f7df2a49d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e974ccb1005402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94750d315944dc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ee597c98fd04f3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105be17538c4cb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c9f9a306f3d444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7ef3625807d405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90390602bcc47d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f6a88bf9593482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7bc982fad2144c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d19db0434c64f04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15a76409248d494f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920c6d0389d34ec3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55063d2fd98a4ae4" 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:notes"/>
          <p:cNvSpPr/>
          <p:nvPr>
            <p:ph idx="2" type="sldImg"/>
          </p:nvPr>
        </p:nvSpPr>
        <p:spPr>
          <a:xfrm>
            <a:off x="90488" y="744538"/>
            <a:ext cx="6618287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1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d1b52a876f_0_2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g3d1b52a876f_0_26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4" name="Google Shape;184;g3d1b52a876f_0_26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 showMasterPhAnim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d1b52a876f_0_0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g3d1b52a876f_0_0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" name="Google Shape;100;g3d1b52a876f_0_0:notes"/>
          <p:cNvSpPr txBox="1"/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 showMasterPhAnim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d1b52a876f_0_0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g3d1b52a876f_0_0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" name="Google Shape;100;g3d1b52a876f_0_0:notes"/>
          <p:cNvSpPr txBox="1"/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 showMasterPhAnim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d1b52a876f_0_0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g3d1b52a876f_0_0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" name="Google Shape;100;g3d1b52a876f_0_0:notes"/>
          <p:cNvSpPr txBox="1"/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 showMasterPhAnim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d1b52a876f_0_0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g3d1b52a876f_0_0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" name="Google Shape;100;g3d1b52a876f_0_0:notes"/>
          <p:cNvSpPr txBox="1"/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 showMasterPhAnim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d1b52a876f_0_0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g3d1b52a876f_0_0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" name="Google Shape;100;g3d1b52a876f_0_0:notes"/>
          <p:cNvSpPr txBox="1"/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 showMasterPhAnim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d1b52a876f_0_0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g3d1b52a876f_0_0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" name="Google Shape;100;g3d1b52a876f_0_0:notes"/>
          <p:cNvSpPr txBox="1"/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 showMasterPhAnim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d1b52a876f_0_0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g3d1b52a876f_0_0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" name="Google Shape;100;g3d1b52a876f_0_0:notes"/>
          <p:cNvSpPr txBox="1"/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 showMasterPhAnim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d1b52a876f_0_0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g3d1b52a876f_0_0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" name="Google Shape;100;g3d1b52a876f_0_0:notes"/>
          <p:cNvSpPr txBox="1"/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 showMasterPhAnim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d1b52a876f_0_0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g3d1b52a876f_0_0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" name="Google Shape;100;g3d1b52a876f_0_0:notes"/>
          <p:cNvSpPr txBox="1"/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 showMasterPhAnim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d1b52a876f_0_0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g3d1b52a876f_0_0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" name="Google Shape;100;g3d1b52a876f_0_0:notes"/>
          <p:cNvSpPr txBox="1"/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 showMasterPhAnim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d1b52a876f_0_0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g3d1b52a876f_0_0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" name="Google Shape;100;g3d1b52a876f_0_0:notes"/>
          <p:cNvSpPr txBox="1"/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 showMasterPhAnim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d1b52a876f_0_0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g3d1b52a876f_0_0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" name="Google Shape;100;g3d1b52a876f_0_0:notes"/>
          <p:cNvSpPr txBox="1"/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 showMasterPhAnim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d1b52a876f_0_0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g3d1b52a876f_0_0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" name="Google Shape;100;g3d1b52a876f_0_0:notes"/>
          <p:cNvSpPr txBox="1"/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 showMasterPhAnim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d1b52a876f_0_0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g3d1b52a876f_0_0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" name="Google Shape;100;g3d1b52a876f_0_0:notes"/>
          <p:cNvSpPr txBox="1"/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 showMasterPhAnim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d1b52a876f_0_0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g3d1b52a876f_0_0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" name="Google Shape;100;g3d1b52a876f_0_0:notes"/>
          <p:cNvSpPr txBox="1"/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 showMasterPhAnim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d1b52a876f_0_0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g3d1b52a876f_0_0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" name="Google Shape;100;g3d1b52a876f_0_0:notes"/>
          <p:cNvSpPr txBox="1"/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 showMasterPhAnim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d1b52a876f_0_0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g3d1b52a876f_0_0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" name="Google Shape;100;g3d1b52a876f_0_0:notes"/>
          <p:cNvSpPr txBox="1"/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 showMasterPhAnim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d1b52a876f_0_0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g3d1b52a876f_0_0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" name="Google Shape;100;g3d1b52a876f_0_0:notes"/>
          <p:cNvSpPr txBox="1"/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 showMasterPhAnim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d1b52a876f_0_0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g3d1b52a876f_0_0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" name="Google Shape;100;g3d1b52a876f_0_0:notes"/>
          <p:cNvSpPr txBox="1"/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3"/>
          <p:cNvSpPr txBox="1"/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33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3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3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4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4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4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4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4" name="Google Shape;34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3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3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3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3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3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4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4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4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4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4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TITLEANDBULLETS_J">
  <p:cSld name="TITLE_AND_BODY_2_1_1_1_1_1_2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b06067da4f_0_38"/>
          <p:cNvSpPr/>
          <p:nvPr>
            <p:ph idx="2" type="pic"/>
          </p:nvPr>
        </p:nvSpPr>
        <p:spPr>
          <a:xfrm>
            <a:off x="457200" y="1519300"/>
            <a:ext cx="3090600" cy="30906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86" name="Google Shape;86;g3b06067da4f_0_38"/>
          <p:cNvSpPr txBox="1"/>
          <p:nvPr>
            <p:ph type="title"/>
          </p:nvPr>
        </p:nvSpPr>
        <p:spPr>
          <a:xfrm>
            <a:off x="507450" y="331400"/>
            <a:ext cx="8129100" cy="7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g3b06067da4f_0_38"/>
          <p:cNvSpPr txBox="1"/>
          <p:nvPr>
            <p:ph idx="1" type="body"/>
          </p:nvPr>
        </p:nvSpPr>
        <p:spPr>
          <a:xfrm>
            <a:off x="3854182" y="1519301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">
          <p15:clr>
            <a:srgbClr val="E46962"/>
          </p15:clr>
        </p15:guide>
        <p15:guide id="2" orient="horz" pos="288">
          <p15:clr>
            <a:srgbClr val="E46962"/>
          </p15:clr>
        </p15:guide>
        <p15:guide id="3" orient="horz" pos="2880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2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32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32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32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5271d9c19a9400f" /><Relationship Type="http://schemas.openxmlformats.org/officeDocument/2006/relationships/notesSlide" Target="/ppt/notesSlides/notesSlide11.xml" Id="R28f26ad426c347a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34791ff96c64fe1" /><Relationship Type="http://schemas.openxmlformats.org/officeDocument/2006/relationships/notesSlide" Target="/ppt/notesSlides/notesSlide12.xml" Id="Ra4d013049ba5430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63ff8a03da843f5" /><Relationship Type="http://schemas.openxmlformats.org/officeDocument/2006/relationships/notesSlide" Target="/ppt/notesSlides/notesSlide13.xml" Id="R4f3586aa58cc4c2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c79fc49393a4169" /><Relationship Type="http://schemas.openxmlformats.org/officeDocument/2006/relationships/notesSlide" Target="/ppt/notesSlides/notesSlide14.xml" Id="Rdc276b25f20a4a1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c3c5d27038f40b2" /><Relationship Type="http://schemas.openxmlformats.org/officeDocument/2006/relationships/notesSlide" Target="/ppt/notesSlides/notesSlide15.xml" Id="R4c46cba62c1a45d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2dc14e0c204a4a" /><Relationship Type="http://schemas.openxmlformats.org/officeDocument/2006/relationships/notesSlide" Target="/ppt/notesSlides/notesSlide16.xml" Id="R6c6938e821ac45e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95ef2b51fd34723" /><Relationship Type="http://schemas.openxmlformats.org/officeDocument/2006/relationships/notesSlide" Target="/ppt/notesSlides/notesSlide17.xml" Id="Rf9336d81746f492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27a097b80d54e34" /><Relationship Type="http://schemas.openxmlformats.org/officeDocument/2006/relationships/notesSlide" Target="/ppt/notesSlides/notesSlide18.xml" Id="R117173188062463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f74502af95c495e" /><Relationship Type="http://schemas.openxmlformats.org/officeDocument/2006/relationships/notesSlide" Target="/ppt/notesSlides/notesSlide19.xml" Id="R49415df9582f4ef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d7cbdae3c4d43fc" /><Relationship Type="http://schemas.openxmlformats.org/officeDocument/2006/relationships/notesSlide" Target="/ppt/notesSlides/notesSlide20.xml" Id="R72b418513da44a2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afc5b23380342be" /><Relationship Type="http://schemas.openxmlformats.org/officeDocument/2006/relationships/notesSlide" Target="/ppt/notesSlides/notesSlide21.xml" Id="R44d90240845f4f3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4f49d9892f942ee" /><Relationship Type="http://schemas.openxmlformats.org/officeDocument/2006/relationships/notesSlide" Target="/ppt/notesSlides/notesSlide22.xml" Id="R67339e8721e8453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f8efb1108e2492e" /><Relationship Type="http://schemas.openxmlformats.org/officeDocument/2006/relationships/notesSlide" Target="/ppt/notesSlides/notesSlide23.xml" Id="Rfd64de9d31c24fe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3ab6482704a4d3b" /><Relationship Type="http://schemas.openxmlformats.org/officeDocument/2006/relationships/notesSlide" Target="/ppt/notesSlides/notesSlide24.xml" Id="Rff89affba8b74e0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8976528eb464635" /><Relationship Type="http://schemas.openxmlformats.org/officeDocument/2006/relationships/notesSlide" Target="/ppt/notesSlides/notesSlide25.xml" Id="Rbb8fea5a59594ff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03da66750464e3a" /><Relationship Type="http://schemas.openxmlformats.org/officeDocument/2006/relationships/notesSlide" Target="/ppt/notesSlides/notesSlide26.xml" Id="Ref4f345104fa4ba5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47a7f14bdfb4744" /><Relationship Type="http://schemas.openxmlformats.org/officeDocument/2006/relationships/notesSlide" Target="/ppt/notesSlides/notesSlide27.xml" Id="R245ebf156e8748c3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5afdd4da75045e9" /><Relationship Type="http://schemas.openxmlformats.org/officeDocument/2006/relationships/notesSlide" Target="/ppt/notesSlides/notesSlide28.xml" Id="R8122dee706264d35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627b95cfbdc461e" /><Relationship Type="http://schemas.openxmlformats.org/officeDocument/2006/relationships/notesSlide" Target="/ppt/notesSlides/notesSlide29.xml" Id="Rb302f4bead12454b" 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/>
          <p:nvPr/>
        </p:nvSpPr>
        <p:spPr>
          <a:xfrm>
            <a:off x="0" y="0"/>
            <a:ext cx="12192000" cy="1715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 txBox="1"/>
          <p:nvPr>
            <p:ph type="ctrTitle"/>
          </p:nvPr>
        </p:nvSpPr>
        <p:spPr>
          <a:xfrm>
            <a:off x="1302654" y="1809955"/>
            <a:ext cx="9586800" cy="18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imes New Roman"/>
              <a:buNone/>
            </a:pPr>
            <a:r>
              <a:rPr lang="en-US" sz="34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Tự động hóa soạn thảo văn bản theo hình thức mẫu qua thiết kế Skills và tích hợp OfficeCLI</a:t>
            </a:r>
            <a:endParaRPr sz="3400"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t/>
            </a:r>
            <a:endParaRPr sz="3400"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1"/>
          <p:cNvSpPr txBox="1"/>
          <p:nvPr>
            <p:ph type="subTitle" idx="1"/>
          </p:nvPr>
        </p:nvSpPr>
        <p:spPr>
          <a:xfrm>
            <a:off x="2044981" y="4370959"/>
            <a:ext cx="7923600" cy="7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900" b="1">
                <a:latin typeface="Times New Roman"/>
                <a:ea typeface="Times New Roman"/>
                <a:cs typeface="Times New Roman"/>
                <a:sym typeface="Times New Roman"/>
              </a:rPr>
              <a:t>Tien do, van de va ke hoach tuan tiep theo</a:t>
            </a:r>
          </a:p>
        </p:txBody>
      </p:sp>
      <p:sp>
        <p:nvSpPr>
          <p:cNvPr id="18" name="Google Shape;18;p33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20" name="Google Shape;20;p33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/>
          </a:p>
        </p:txBody>
      </p:sp>
      <p:cxnSp>
        <p:nvCxnSpPr>
          <p:cNvPr id="95" name="Google Shape;95;p1"/>
          <p:cNvCxnSpPr/>
          <p:nvPr/>
        </p:nvCxnSpPr>
        <p:spPr>
          <a:xfrm rot="10800000" flipH="1">
            <a:off x="2043711" y="5288776"/>
            <a:ext cx="7923600" cy="8800"/>
          </a:xfrm>
          <a:prstGeom prst="straightConnector1">
            <a:avLst/>
          </a:prstGeom>
          <a:noFill/>
          <a:ln w="19050" cap="flat" cmpd="sng">
            <a:solidFill>
              <a:srgbClr val="002060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96" name="Google Shape;96;p1"/>
          <p:cNvSpPr txBox="1"/>
          <p:nvPr/>
        </p:nvSpPr>
        <p:spPr>
          <a:xfrm>
            <a:off x="3343583" y="3147938"/>
            <a:ext cx="5495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Báo cáo hàng tuần</a:t>
            </a:r>
            <a:endParaRPr sz="2000" b="1" i="1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t>Nội dung</a:t>
            </a:r>
          </a:p>
        </p:txBody>
      </p:sp>
      <p:sp>
        <p:nvSpPr>
          <p:cNvPr id="23" name="Google Shape;23;p34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t>• Giới thiệu / Bối cảnh Task</a:t>
            </a:r>
          </a:p>
          <a:p>
            <a:r>
              <a:t>• Công việc liên quan (Related Work)</a:t>
            </a:r>
          </a:p>
          <a:p>
            <a:r>
              <a:t>• Công việc đã Thực hiện trong Tuần</a:t>
            </a:r>
          </a:p>
          <a:p>
            <a:r>
              <a:t>• Vấn đề Gặp Phải &amp; Cách Xử Lý</a:t>
            </a:r>
          </a:p>
          <a:p>
            <a:r>
              <a:t>• Kế hoạch Tuần Tiếp Theo</a:t>
            </a:r>
          </a:p>
        </p:txBody>
      </p:sp>
      <p:sp>
        <p:nvSpPr>
          <p:cNvPr id="24" name="Google Shape;24;p34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186" name="Google Shape;186;g3d1b52a876f_0_265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" name="Google Shape;187;g3d1b52a876f_0_265"/>
          <p:cNvSpPr txBox="1"/>
          <p:nvPr/>
        </p:nvSpPr>
        <p:spPr>
          <a:xfrm>
            <a:off x="8910879" y="6492240"/>
            <a:ext cx="2170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Trong-Nghia Nguyen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g3d1b52a876f_0_265"/>
          <p:cNvSpPr txBox="1"/>
          <p:nvPr>
            <p:ph type="sldNum" idx="12"/>
          </p:nvPr>
        </p:nvSpPr>
        <p:spPr>
          <a:xfrm>
            <a:off x="9448800" y="651619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t>Bài toán cụ thể</a:t>
            </a:r>
          </a:p>
        </p:txBody>
      </p:sp>
      <p:sp>
        <p:nvSpPr>
          <p:cNvPr id="23" name="Google Shape;23;p34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t>Phần: Giới thiệu / Bối cảnh Task</a:t>
            </a:r>
          </a:p>
          <a:p>
            <a:r>
              <a:t>Báo cáo này trình bày tiến độ tuần đầu tiên trong quá trình xây dựng hệ thống tự động hóa tạo tài liệu văn phòng...</a:t>
            </a:r>
          </a:p>
          <a:p>
            <a:r>
              <a:t>Task tuần 1 là sinh file `report.docx` từ nguồn nội dung `chuong_2.md`, nhưng **không phá vỡ scaffold hình thức** của...</a:t>
            </a:r>
          </a:p>
          <a:p>
            <a:r>
              <a:t>Các thành phần bắt buộc phải bảo toàn bao gồm:</a:t>
            </a:r>
          </a:p>
        </p:txBody>
      </p:sp>
      <p:sp>
        <p:nvSpPr>
          <p:cNvPr id="24" name="Google Shape;24;p34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102" name="Google Shape;102;g3d1b52a876f_0_0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g3d1b52a876f_0_0"/>
          <p:cNvSpPr txBox="1"/>
          <p:nvPr/>
        </p:nvSpPr>
        <p:spPr>
          <a:xfrm>
            <a:off x="8910879" y="6492240"/>
            <a:ext cx="2170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Trong-Nghia Nguyen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3d1b52a876f_0_0"/>
          <p:cNvSpPr txBox="1"/>
          <p:nvPr>
            <p:ph type="sldNum" idx="12"/>
          </p:nvPr>
        </p:nvSpPr>
        <p:spPr>
          <a:xfrm>
            <a:off x="9448800" y="651619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t>Thách thức cốt lõi</a:t>
            </a:r>
          </a:p>
        </p:txBody>
      </p:sp>
      <p:sp>
        <p:nvSpPr>
          <p:cNvPr id="23" name="Google Shape;23;p34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t>Phần: Giới thiệu / Bối cảnh Task</a:t>
            </a:r>
          </a:p>
          <a:p>
            <a:r>
              <a:t>Báo cáo này trình bày tiến độ tuần đầu tiên trong quá trình xây dựng hệ thống tự động hóa tạo tài liệu văn phòng...</a:t>
            </a:r>
          </a:p>
          <a:p>
            <a:r>
              <a:t>Thách thức căn bản không nằm ở việc thiếu prompt hay thiếu context.</a:t>
            </a:r>
          </a:p>
          <a:p>
            <a:r>
              <a:t>Vấn đề là workflow truyền thống đối xử tài liệu Office như một **khối văn bản thuần túy**, trong khi DOCX thực chất là...</a:t>
            </a:r>
          </a:p>
          <a:p>
            <a:r>
              <a:t>Từ đó, mode thực thi đúng phải là **`preserve-template-scaffold`** — chỉ thay thế vùng nội dung chính được xác định...</a:t>
            </a:r>
          </a:p>
        </p:txBody>
      </p:sp>
      <p:sp>
        <p:nvSpPr>
          <p:cNvPr id="24" name="Google Shape;24;p34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102" name="Google Shape;102;g3d1b52a876f_0_0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g3d1b52a876f_0_0"/>
          <p:cNvSpPr txBox="1"/>
          <p:nvPr/>
        </p:nvSpPr>
        <p:spPr>
          <a:xfrm>
            <a:off x="8910879" y="6492240"/>
            <a:ext cx="2170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Trong-Nghia Nguyen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3d1b52a876f_0_0"/>
          <p:cNvSpPr txBox="1"/>
          <p:nvPr>
            <p:ph type="sldNum" idx="12"/>
          </p:nvPr>
        </p:nvSpPr>
        <p:spPr>
          <a:xfrm>
            <a:off x="9448800" y="651619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t>Agent Skills trong hệ thống LLM-based Agent</a:t>
            </a:r>
          </a:p>
        </p:txBody>
      </p:sp>
      <p:sp>
        <p:nvSpPr>
          <p:cNvPr id="23" name="Google Shape;23;p34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t>Trong các hệ thống agentic hiện đại như **OpenCode + Qwen**, **Skill** là đơn vị điều phối hành vi của agent — tương...</a:t>
            </a:r>
          </a:p>
          <a:p>
            <a:r>
              <a:t>Theo best practice của Anthropic và OpenCode:</a:t>
            </a:r>
          </a:p>
          <a:p>
            <a:r>
              <a:t>• Skill nên **ngắn gọn, chỉ đóng vai trò điều phối** — không mang logic thực thi vào bên trong.</a:t>
            </a:r>
          </a:p>
          <a:p>
            <a:r>
              <a:t>• Chi tiết phức tạp phải được **externalize** ra artifact (JSON), plan file và validator script riêng.</a:t>
            </a:r>
          </a:p>
          <a:p>
            <a:r>
              <a:t>• Workflow phức tạp phải đi qua chu trình: `plan → validate → execute → verify`.</a:t>
            </a:r>
          </a:p>
          <a:p>
            <a:r>
              <a:t>• Với mô hình reasoning như Qwen, **decision boundary phải rất rõ ràng** — nếu Skill name và description chỉ nói theo...</a:t>
            </a:r>
          </a:p>
        </p:txBody>
      </p:sp>
      <p:sp>
        <p:nvSpPr>
          <p:cNvPr id="24" name="Google Shape;24;p34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102" name="Google Shape;102;g3d1b52a876f_0_0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g3d1b52a876f_0_0"/>
          <p:cNvSpPr txBox="1"/>
          <p:nvPr/>
        </p:nvSpPr>
        <p:spPr>
          <a:xfrm>
            <a:off x="8910879" y="6492240"/>
            <a:ext cx="2170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Trong-Nghia Nguyen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3d1b52a876f_0_0"/>
          <p:cNvSpPr txBox="1"/>
          <p:nvPr>
            <p:ph type="sldNum" idx="12"/>
          </p:nvPr>
        </p:nvSpPr>
        <p:spPr>
          <a:xfrm>
            <a:off x="9448800" y="651619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t>Agent Skills trong hệ thống LLM-based Agent (tiếp 1)</a:t>
            </a:r>
          </a:p>
        </p:txBody>
      </p:sp>
      <p:sp>
        <p:nvSpPr>
          <p:cNvPr id="23" name="Google Shape;23;p34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t>Trong project này, Skill đóng vai trò **quyết định mode** (ví dụ:</a:t>
            </a:r>
          </a:p>
          <a:p>
            <a:r>
              <a:t>`preserve-template-scaffold`, `replace-main-content-range`) và **khai báo contract** — phần nào cần giữ, phần nào được...</a:t>
            </a:r>
          </a:p>
          <a:p>
            <a:r>
              <a:t>Hiện tại, repo đã tổ chức **7 Skills** theo phân tầng rõ ràng:</a:t>
            </a:r>
          </a:p>
          <a:p>
            <a:r>
              <a:t>Bảng: Skill | Vai trò</a:t>
            </a:r>
          </a:p>
          <a:p>
            <a:r>
              <a:t>Bảng: --- | ---</a:t>
            </a:r>
          </a:p>
          <a:p>
            <a:r>
              <a:t>Bảng: `docx-from-template` | Orchestrator chính cho tác vụ Word</a:t>
            </a:r>
          </a:p>
        </p:txBody>
      </p:sp>
      <p:sp>
        <p:nvSpPr>
          <p:cNvPr id="24" name="Google Shape;24;p34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102" name="Google Shape;102;g3d1b52a876f_0_0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g3d1b52a876f_0_0"/>
          <p:cNvSpPr txBox="1"/>
          <p:nvPr/>
        </p:nvSpPr>
        <p:spPr>
          <a:xfrm>
            <a:off x="8910879" y="6492240"/>
            <a:ext cx="2170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Trong-Nghia Nguyen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3d1b52a876f_0_0"/>
          <p:cNvSpPr txBox="1"/>
          <p:nvPr>
            <p:ph type="sldNum" idx="12"/>
          </p:nvPr>
        </p:nvSpPr>
        <p:spPr>
          <a:xfrm>
            <a:off x="9448800" y="651619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t>Agent Skills trong hệ thống LLM-based Agent (tiếp 2)</a:t>
            </a:r>
          </a:p>
        </p:txBody>
      </p:sp>
      <p:sp>
        <p:nvSpPr>
          <p:cNvPr id="23" name="Google Shape;23;p34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t>Bảng: `md-to-docx-pipeline` | Pipeline parse → profile → plan → build → QA ngoài context</a:t>
            </a:r>
          </a:p>
          <a:p>
            <a:r>
              <a:t>Bảng: `docx-qa` | Delivery gate: package QA, structural QA, range QA, semantic QA</a:t>
            </a:r>
          </a:p>
          <a:p>
            <a:r>
              <a:t>Bảng: `officecli-docx` | Command reference cho OfficeCLI với DOCX</a:t>
            </a:r>
          </a:p>
          <a:p>
            <a:r>
              <a:t>Bảng: `officecli-pptx` | Command reference cho OfficeCLI với PPTX</a:t>
            </a:r>
          </a:p>
          <a:p>
            <a:r>
              <a:t>Bảng: `officecli-xlsx` | Command reference cho OfficeCLI với XLSX</a:t>
            </a:r>
          </a:p>
          <a:p>
            <a:r>
              <a:t>Bảng: `officecli-mcp` | Cài đặt và đăng ký OfficeCLI MCP server cho agent</a:t>
            </a:r>
          </a:p>
        </p:txBody>
      </p:sp>
      <p:sp>
        <p:nvSpPr>
          <p:cNvPr id="24" name="Google Shape;24;p34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102" name="Google Shape;102;g3d1b52a876f_0_0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g3d1b52a876f_0_0"/>
          <p:cNvSpPr txBox="1"/>
          <p:nvPr/>
        </p:nvSpPr>
        <p:spPr>
          <a:xfrm>
            <a:off x="8910879" y="6492240"/>
            <a:ext cx="2170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Trong-Nghia Nguyen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3d1b52a876f_0_0"/>
          <p:cNvSpPr txBox="1"/>
          <p:nvPr>
            <p:ph type="sldNum" idx="12"/>
          </p:nvPr>
        </p:nvSpPr>
        <p:spPr>
          <a:xfrm>
            <a:off x="9448800" y="651619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t>Agent Skills trong hệ thống LLM-based Agent (tiếp 3)</a:t>
            </a:r>
          </a:p>
        </p:txBody>
      </p:sp>
      <p:sp>
        <p:nvSpPr>
          <p:cNvPr id="23" name="Google Shape;23;p34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t>Nguyên tắc routing được định nghĩa rõ trong `AGENTS.md`:</a:t>
            </a:r>
          </a:p>
          <a:p>
            <a:r>
              <a:t>với mọi task `preserve-template-scaffold` hoặc Markdown-to-DOCX, agent phải load `docx-from-template` trước, sau đó...</a:t>
            </a:r>
          </a:p>
        </p:txBody>
      </p:sp>
      <p:sp>
        <p:nvSpPr>
          <p:cNvPr id="24" name="Google Shape;24;p34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102" name="Google Shape;102;g3d1b52a876f_0_0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g3d1b52a876f_0_0"/>
          <p:cNvSpPr txBox="1"/>
          <p:nvPr/>
        </p:nvSpPr>
        <p:spPr>
          <a:xfrm>
            <a:off x="8910879" y="6492240"/>
            <a:ext cx="2170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Trong-Nghia Nguyen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3d1b52a876f_0_0"/>
          <p:cNvSpPr txBox="1"/>
          <p:nvPr>
            <p:ph type="sldNum" idx="12"/>
          </p:nvPr>
        </p:nvSpPr>
        <p:spPr>
          <a:xfrm>
            <a:off x="9448800" y="651619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t>OfficeCLI — Execution Engine cho Tài liệu Office</a:t>
            </a:r>
          </a:p>
        </p:txBody>
      </p:sp>
      <p:sp>
        <p:nvSpPr>
          <p:cNvPr id="23" name="Google Shape;23;p34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t>**OfficeCLI** là công cụ thao tác file Office (DOCX, PPTX, XLSX) ở tầng **Open XML structure**, không phải ở tầng văn...</a:t>
            </a:r>
          </a:p>
          <a:p>
            <a:r>
              <a:t>Đây là điểm khác biệt then chốt so với `python-docx` hay các thư viện Python thông thường vốn có giới hạn về fidelity...</a:t>
            </a:r>
          </a:p>
          <a:p>
            <a:r>
              <a:t>OfficeCLI cung cấp ba tầng thao tác:</a:t>
            </a:r>
          </a:p>
          <a:p>
            <a:r>
              <a:t>• **L1 (High-level):** Các lệnh `add`, `set`, `remove`, `move` thao tác trên element có tên rõ ràng.</a:t>
            </a:r>
          </a:p>
          <a:p>
            <a:r>
              <a:t>• **L2 (Mid-level):** Thao tác field-level, numbering, style binding, TOC field rewrite.</a:t>
            </a:r>
          </a:p>
          <a:p>
            <a:r>
              <a:t>• **L3 (Raw):** `raw`, `raw-set`, `add-part` — chỉ được dùng khi L1/L2 không hỗ trợ, và bắt buộc phải có giải trình...</a:t>
            </a:r>
          </a:p>
        </p:txBody>
      </p:sp>
      <p:sp>
        <p:nvSpPr>
          <p:cNvPr id="24" name="Google Shape;24;p34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102" name="Google Shape;102;g3d1b52a876f_0_0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g3d1b52a876f_0_0"/>
          <p:cNvSpPr txBox="1"/>
          <p:nvPr/>
        </p:nvSpPr>
        <p:spPr>
          <a:xfrm>
            <a:off x="8910879" y="6492240"/>
            <a:ext cx="2170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Trong-Nghia Nguyen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3d1b52a876f_0_0"/>
          <p:cNvSpPr txBox="1"/>
          <p:nvPr>
            <p:ph type="sldNum" idx="12"/>
          </p:nvPr>
        </p:nvSpPr>
        <p:spPr>
          <a:xfrm>
            <a:off x="9448800" y="651619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t>OfficeCLI — Execution Engine cho Tài liệu Office (tiếp 1)</a:t>
            </a:r>
          </a:p>
        </p:txBody>
      </p:sp>
      <p:sp>
        <p:nvSpPr>
          <p:cNvPr id="23" name="Google Shape;23;p34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t>Vai trò của OfficeCLI trong hệ thống là **tầng thực thi dưới cùng**.</a:t>
            </a:r>
          </a:p>
          <a:p>
            <a:r>
              <a:t>Qwen sinh `plan.json` với operation intent, script validator kiểm tra plan, sau đó executor convert plan thành lệnh...</a:t>
            </a:r>
          </a:p>
          <a:p>
            <a:r>
              <a:t>• **Resident mode:** `officecli open` → chuỗi `add/set/remove` → `officecli save` → `officecli close`</a:t>
            </a:r>
          </a:p>
          <a:p>
            <a:r>
              <a:t>• **Batch mode:** Gom toàn bộ mutation vào một JSON array duy nhất, chạy `officecli batch`</a:t>
            </a:r>
          </a:p>
          <a:p>
            <a:r>
              <a:t>Phân tầng này phù hợp với nguyên tắc *giảm degrees of freedom* — model không cần hiểu OOXML, chỉ cần hiểu intent và...</a:t>
            </a:r>
          </a:p>
          <a:p>
            <a:r>
              <a:t>Sau mỗi lần `close`, bắt buộc phải chạy `officecli validate &lt;file&gt; --json` như integrity gate tối thiểu.</a:t>
            </a:r>
          </a:p>
        </p:txBody>
      </p:sp>
      <p:sp>
        <p:nvSpPr>
          <p:cNvPr id="24" name="Google Shape;24;p34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102" name="Google Shape;102;g3d1b52a876f_0_0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g3d1b52a876f_0_0"/>
          <p:cNvSpPr txBox="1"/>
          <p:nvPr/>
        </p:nvSpPr>
        <p:spPr>
          <a:xfrm>
            <a:off x="8910879" y="6492240"/>
            <a:ext cx="2170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Trong-Nghia Nguyen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3d1b52a876f_0_0"/>
          <p:cNvSpPr txBox="1"/>
          <p:nvPr>
            <p:ph type="sldNum" idx="12"/>
          </p:nvPr>
        </p:nvSpPr>
        <p:spPr>
          <a:xfrm>
            <a:off x="9448800" y="651619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t>Thiết kế và triển khai pipeline `md-to-docx-pipeline`</a:t>
            </a:r>
          </a:p>
        </p:txBody>
      </p:sp>
      <p:sp>
        <p:nvSpPr>
          <p:cNvPr id="23" name="Google Shape;23;p34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t>Pipeline 5 bước đã được thiết kế và triển khai hoàn chỉnh dưới dạng các script Python độc lập tại...</a:t>
            </a:r>
          </a:p>
          <a:p>
            <a:r>
              <a:t>CLI/Code: parse_markdown.py → profile_template.py → plan_mapping.py → build_docx.py → qa_docx.py</a:t>
            </a:r>
          </a:p>
          <a:p>
            <a:r>
              <a:t>Mỗi script có contract input/output rõ ràng và viết artifact JSON ra `run_dir` để agent chỉ cần thấy file path và...</a:t>
            </a:r>
          </a:p>
          <a:p>
            <a:r>
              <a:t>Tiểu mục: Trách nhiệm từng script</a:t>
            </a:r>
          </a:p>
          <a:p>
            <a:r>
              <a:t>Bảng: Script | Input | Output | Trách nhiệm chính</a:t>
            </a:r>
          </a:p>
          <a:p>
            <a:r>
              <a:t>Bảng: --- | --- | --- | ---</a:t>
            </a:r>
          </a:p>
        </p:txBody>
      </p:sp>
      <p:sp>
        <p:nvSpPr>
          <p:cNvPr id="24" name="Google Shape;24;p34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102" name="Google Shape;102;g3d1b52a876f_0_0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g3d1b52a876f_0_0"/>
          <p:cNvSpPr txBox="1"/>
          <p:nvPr/>
        </p:nvSpPr>
        <p:spPr>
          <a:xfrm>
            <a:off x="8910879" y="6492240"/>
            <a:ext cx="2170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Trong-Nghia Nguyen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3d1b52a876f_0_0"/>
          <p:cNvSpPr txBox="1"/>
          <p:nvPr>
            <p:ph type="sldNum" idx="12"/>
          </p:nvPr>
        </p:nvSpPr>
        <p:spPr>
          <a:xfrm>
            <a:off x="9448800" y="651619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t>Thiết kế và triển khai pipeline `md-to-docx-pipeline` (tiếp 1)</a:t>
            </a:r>
          </a:p>
        </p:txBody>
      </p:sp>
      <p:sp>
        <p:nvSpPr>
          <p:cNvPr id="23" name="Google Shape;23;p34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t>Bảng: `parse_markdown.py` | `--source-file`, `--run-dir` | `content_ast.json`, `content_outline.json` | Parse Markdown...</a:t>
            </a:r>
          </a:p>
          <a:p>
            <a:r>
              <a:t>Bảng: `profile_template.py` | `--template-file`, `--run-dir` | `template_profile.json` | Phát hiện scaffold, TOC...</a:t>
            </a:r>
          </a:p>
          <a:p>
            <a:r>
              <a:t>Bảng: `plan_mapping.py` | `--mode`, `--run-dir`, paths | `plan.json`, cập nhật `run.json` | Normalize mode cũ, sinh...</a:t>
            </a:r>
          </a:p>
          <a:p>
            <a:r>
              <a:t>Bảng: `build_docx.py` | `--run-dir` | `build_report.json` | Bounded replacement theo plan; fail-closed nếu range chưa...</a:t>
            </a:r>
          </a:p>
          <a:p>
            <a:r>
              <a:t>Bảng: `qa_docx.py` | `--run-dir` | `qa_report.json` | 4-tầng QA: package, structural, range, semantic</a:t>
            </a:r>
          </a:p>
        </p:txBody>
      </p:sp>
      <p:sp>
        <p:nvSpPr>
          <p:cNvPr id="24" name="Google Shape;24;p34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102" name="Google Shape;102;g3d1b52a876f_0_0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g3d1b52a876f_0_0"/>
          <p:cNvSpPr txBox="1"/>
          <p:nvPr/>
        </p:nvSpPr>
        <p:spPr>
          <a:xfrm>
            <a:off x="8910879" y="6492240"/>
            <a:ext cx="2170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Trong-Nghia Nguyen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3d1b52a876f_0_0"/>
          <p:cNvSpPr txBox="1"/>
          <p:nvPr>
            <p:ph type="sldNum" idx="12"/>
          </p:nvPr>
        </p:nvSpPr>
        <p:spPr>
          <a:xfrm>
            <a:off x="9448800" y="651619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t>Thiết kế hệ thống Skills phân tầng</a:t>
            </a:r>
          </a:p>
        </p:txBody>
      </p:sp>
      <p:sp>
        <p:nvSpPr>
          <p:cNvPr id="23" name="Google Shape;23;p34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t>7 Skills đã được tổ chức và viết theo nguyên tắc **phân tầng theo intent**, không chỉ theo extension file.</a:t>
            </a:r>
          </a:p>
          <a:p>
            <a:r>
              <a:t>Routing rule được định nghĩa tập trung tại `.opencode/AGENTS.md` để agent biết khi nào load skill nào và theo thứ tự...</a:t>
            </a:r>
          </a:p>
          <a:p>
            <a:r>
              <a:t>Skill `md-to-docx-pipeline` được thiết kế với nguyên tắc **progressive disclosure**:</a:t>
            </a:r>
          </a:p>
          <a:p>
            <a:r>
              <a:t>Skill chỉ expose file path, mode, artifact path và summary JSON ngắn cho agent — toàn bộ detail về XML structure,...</a:t>
            </a:r>
          </a:p>
        </p:txBody>
      </p:sp>
      <p:sp>
        <p:nvSpPr>
          <p:cNvPr id="24" name="Google Shape;24;p34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102" name="Google Shape;102;g3d1b52a876f_0_0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g3d1b52a876f_0_0"/>
          <p:cNvSpPr txBox="1"/>
          <p:nvPr/>
        </p:nvSpPr>
        <p:spPr>
          <a:xfrm>
            <a:off x="8910879" y="6492240"/>
            <a:ext cx="2170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Trong-Nghia Nguyen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3d1b52a876f_0_0"/>
          <p:cNvSpPr txBox="1"/>
          <p:nvPr>
            <p:ph type="sldNum" idx="12"/>
          </p:nvPr>
        </p:nvSpPr>
        <p:spPr>
          <a:xfrm>
            <a:off x="9448800" y="651619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t>Xây dựng Hard Gate và QA Contract</a:t>
            </a:r>
          </a:p>
        </p:txBody>
      </p:sp>
      <p:sp>
        <p:nvSpPr>
          <p:cNvPr id="23" name="Google Shape;23;p34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t>Hard gate cho mode `preserve-template-scaffold` được định nghĩa cụ thể, yêu cầu agent phải chứng minh đủ 6 điều kiện...</a:t>
            </a:r>
          </a:p>
          <a:p>
            <a:r>
              <a:t>• Scaffold còn nguyên: header/footer, section settings, TOC field, list-of-figures field</a:t>
            </a:r>
          </a:p>
          <a:p>
            <a:r>
              <a:t>• `replace_ranges` ở trạng thái `resolved` trong `plan.json`, không phải suy đoán</a:t>
            </a:r>
          </a:p>
          <a:p>
            <a:r>
              <a:t>• Outline file kết quả khớp `chuong_2.md` theo thứ tự</a:t>
            </a:r>
          </a:p>
          <a:p>
            <a:r>
              <a:t>• Không có residue nội dung template cũ trong vùng đã thay</a:t>
            </a:r>
          </a:p>
          <a:p>
            <a:r>
              <a:t>• Không có duplicate pattern: `CHƯƠNG 1. CHƯƠNG 1`, `4.1. 1.1.`,...</a:t>
            </a:r>
          </a:p>
        </p:txBody>
      </p:sp>
      <p:sp>
        <p:nvSpPr>
          <p:cNvPr id="24" name="Google Shape;24;p34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102" name="Google Shape;102;g3d1b52a876f_0_0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g3d1b52a876f_0_0"/>
          <p:cNvSpPr txBox="1"/>
          <p:nvPr/>
        </p:nvSpPr>
        <p:spPr>
          <a:xfrm>
            <a:off x="8910879" y="6492240"/>
            <a:ext cx="2170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Trong-Nghia Nguyen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3d1b52a876f_0_0"/>
          <p:cNvSpPr txBox="1"/>
          <p:nvPr>
            <p:ph type="sldNum" idx="12"/>
          </p:nvPr>
        </p:nvSpPr>
        <p:spPr>
          <a:xfrm>
            <a:off x="9448800" y="651619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t>Xây dựng Hard Gate và QA Contract (tiếp 1)</a:t>
            </a:r>
          </a:p>
        </p:txBody>
      </p:sp>
      <p:sp>
        <p:nvSpPr>
          <p:cNvPr id="23" name="Google Shape;23;p34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t>QA được tổ chức thành **4 tầng** trong `qa_docx.py`:</a:t>
            </a:r>
          </a:p>
          <a:p>
            <a:r>
              <a:t>Package QA → Structural QA → Range QA → Semantic QA.</a:t>
            </a:r>
          </a:p>
        </p:txBody>
      </p:sp>
      <p:sp>
        <p:nvSpPr>
          <p:cNvPr id="24" name="Google Shape;24;p34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102" name="Google Shape;102;g3d1b52a876f_0_0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g3d1b52a876f_0_0"/>
          <p:cNvSpPr txBox="1"/>
          <p:nvPr/>
        </p:nvSpPr>
        <p:spPr>
          <a:xfrm>
            <a:off x="8910879" y="6492240"/>
            <a:ext cx="2170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Trong-Nghia Nguyen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3d1b52a876f_0_0"/>
          <p:cNvSpPr txBox="1"/>
          <p:nvPr>
            <p:ph type="sldNum" idx="12"/>
          </p:nvPr>
        </p:nvSpPr>
        <p:spPr>
          <a:xfrm>
            <a:off x="9448800" y="651619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t>Artifact và State Management</a:t>
            </a:r>
          </a:p>
        </p:txBody>
      </p:sp>
      <p:sp>
        <p:nvSpPr>
          <p:cNvPr id="23" name="Google Shape;23;p34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t>State của mỗi run được lưu tại `.office-auto/state/&lt;run_id&gt;/` với các artifact chuẩn:</a:t>
            </a:r>
          </a:p>
          <a:p>
            <a:r>
              <a:t>CLI/Code: preflight.json ← OfficeCLI version, mode, paths</a:t>
            </a:r>
          </a:p>
          <a:p>
            <a:r>
              <a:t>Script entry point `scripts/build_report.py` orchestrate toàn bộ pipeline và verify `officecli --version` làm...</a:t>
            </a:r>
          </a:p>
        </p:txBody>
      </p:sp>
      <p:sp>
        <p:nvSpPr>
          <p:cNvPr id="24" name="Google Shape;24;p34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102" name="Google Shape;102;g3d1b52a876f_0_0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g3d1b52a876f_0_0"/>
          <p:cNvSpPr txBox="1"/>
          <p:nvPr/>
        </p:nvSpPr>
        <p:spPr>
          <a:xfrm>
            <a:off x="8910879" y="6492240"/>
            <a:ext cx="2170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Trong-Nghia Nguyen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3d1b52a876f_0_0"/>
          <p:cNvSpPr txBox="1"/>
          <p:nvPr>
            <p:ph type="sldNum" idx="12"/>
          </p:nvPr>
        </p:nvSpPr>
        <p:spPr>
          <a:xfrm>
            <a:off x="9448800" y="651619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t>Lỗi TOC render ra text thô `TOC \o "1-3" \h \z \u`</a:t>
            </a:r>
          </a:p>
        </p:txBody>
      </p:sp>
      <p:sp>
        <p:nvSpPr>
          <p:cNvPr id="23" name="Google Shape;23;p34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t>Phần: Vấn đề Gặp Phải &amp; Cách Xử Lý</a:t>
            </a:r>
          </a:p>
          <a:p>
            <a:r>
              <a:t>Trong quá trình chạy pipeline, run-005 đã xuất hiện 3 lỗi cụ thể với root cause và fix plan đã được phân tích chi tiết...</a:t>
            </a:r>
          </a:p>
          <a:p>
            <a:r>
              <a:t>**Root cause:** `build_docx.py` dùng `ET.tostring()` của stdlib Python để rebuild XML.</a:t>
            </a:r>
          </a:p>
          <a:p>
            <a:r>
              <a:t>`ET.tostring()` không preserve namespace prefix — tất cả `xmlns:w=...` bị rewrite thành `ns0`, `ns1`,...</a:t>
            </a:r>
          </a:p>
          <a:p>
            <a:r>
              <a:t>**Hướng fix:** Trong `profile_template.py`, detect tất cả paragraph thuộc TOC field (từ...</a:t>
            </a:r>
          </a:p>
        </p:txBody>
      </p:sp>
      <p:sp>
        <p:nvSpPr>
          <p:cNvPr id="24" name="Google Shape;24;p34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102" name="Google Shape;102;g3d1b52a876f_0_0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g3d1b52a876f_0_0"/>
          <p:cNvSpPr txBox="1"/>
          <p:nvPr/>
        </p:nvSpPr>
        <p:spPr>
          <a:xfrm>
            <a:off x="8910879" y="6492240"/>
            <a:ext cx="2170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Trong-Nghia Nguyen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3d1b52a876f_0_0"/>
          <p:cNvSpPr txBox="1"/>
          <p:nvPr>
            <p:ph type="sldNum" idx="12"/>
          </p:nvPr>
        </p:nvSpPr>
        <p:spPr>
          <a:xfrm>
            <a:off x="9448800" y="651619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t>Heading bị double-numbering — `1.2 1.2. Các thách thức...`</a:t>
            </a:r>
          </a:p>
        </p:txBody>
      </p:sp>
      <p:sp>
        <p:nvSpPr>
          <p:cNvPr id="23" name="Google Shape;23;p34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t>Phần: Vấn đề Gặp Phải &amp; Cách Xử Lý</a:t>
            </a:r>
          </a:p>
          <a:p>
            <a:r>
              <a:t>Trong quá trình chạy pipeline, run-005 đã xuất hiện 3 lỗi cụ thể với root cause và fix plan đã được phân tích chi tiết...</a:t>
            </a:r>
          </a:p>
          <a:p>
            <a:r>
              <a:t>**Root cause:** Template đã có `w:numPr` gắn vào heading style (Word tự render số từ `word/numbering.xml`).</a:t>
            </a:r>
          </a:p>
          <a:p>
            <a:r>
              <a:t>Trong khi đó, `parse_markdown.py` giữ nguyên prefix số trong heading text từ Markdown (ví dụ:</a:t>
            </a:r>
          </a:p>
          <a:p>
            <a:r>
              <a:t>**Hướng fix:** Trong `parse_markdown.py`, strip prefix numbering khỏi heading text trước khi lưu vào `block["text"]` —...</a:t>
            </a:r>
          </a:p>
        </p:txBody>
      </p:sp>
      <p:sp>
        <p:nvSpPr>
          <p:cNvPr id="24" name="Google Shape;24;p34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102" name="Google Shape;102;g3d1b52a876f_0_0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g3d1b52a876f_0_0"/>
          <p:cNvSpPr txBox="1"/>
          <p:nvPr/>
        </p:nvSpPr>
        <p:spPr>
          <a:xfrm>
            <a:off x="8910879" y="6492240"/>
            <a:ext cx="2170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Trong-Nghia Nguyen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3d1b52a876f_0_0"/>
          <p:cNvSpPr txBox="1"/>
          <p:nvPr>
            <p:ph type="sldNum" idx="12"/>
          </p:nvPr>
        </p:nvSpPr>
        <p:spPr>
          <a:xfrm>
            <a:off x="9448800" y="651619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t>References là text thô, không phải auto-numbering</a:t>
            </a:r>
          </a:p>
        </p:txBody>
      </p:sp>
      <p:sp>
        <p:nvSpPr>
          <p:cNvPr id="23" name="Google Shape;23;p34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t>Phần: Vấn đề Gặp Phải &amp; Cách Xử Lý</a:t>
            </a:r>
          </a:p>
          <a:p>
            <a:r>
              <a:t>Trong quá trình chạy pipeline, run-005 đã xuất hiện 3 lỗi cụ thể với root cause và fix plan đã được phân tích chi tiết...</a:t>
            </a:r>
          </a:p>
          <a:p>
            <a:r>
              <a:t>**Root cause:** Script build tạo paragraph references với style `"References"` nhưng không gắn `w:numPr`.</a:t>
            </a:r>
          </a:p>
          <a:p>
            <a:r>
              <a:t>Trong template chuẩn, mỗi entry references là một `w:p` linked đến `w:abstractNum` có `w:numFmt` là `decimal` dạng...</a:t>
            </a:r>
          </a:p>
          <a:p>
            <a:r>
              <a:t>**Hướng fix (3 bước):** Strip prefix `[N]` trong `parse_markdown.py` → bổ sung `style_numbering` extraction trong...</a:t>
            </a:r>
          </a:p>
        </p:txBody>
      </p:sp>
      <p:sp>
        <p:nvSpPr>
          <p:cNvPr id="24" name="Google Shape;24;p34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102" name="Google Shape;102;g3d1b52a876f_0_0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g3d1b52a876f_0_0"/>
          <p:cNvSpPr txBox="1"/>
          <p:nvPr/>
        </p:nvSpPr>
        <p:spPr>
          <a:xfrm>
            <a:off x="8910879" y="6492240"/>
            <a:ext cx="2170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Trong-Nghia Nguyen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3d1b52a876f_0_0"/>
          <p:cNvSpPr txBox="1"/>
          <p:nvPr>
            <p:ph type="sldNum" idx="12"/>
          </p:nvPr>
        </p:nvSpPr>
        <p:spPr>
          <a:xfrm>
            <a:off x="9448800" y="651619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t>Kế hoạch Tuần Tiếp Theo</a:t>
            </a:r>
          </a:p>
        </p:txBody>
      </p:sp>
      <p:sp>
        <p:nvSpPr>
          <p:cNvPr id="23" name="Google Shape;23;p34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t>• Implement fix cho cả 3 lỗi theo thứ tự ưu tiên: heading double-numbering (1 file, ít dòng, impact ngay) → TOC...</a:t>
            </a:r>
          </a:p>
          <a:p>
            <a:r>
              <a:t>• Chạy lại pipeline từ bước `parse_markdown.py` sau mỗi fix để verify fix không gây regression.</a:t>
            </a:r>
          </a:p>
          <a:p>
            <a:r>
              <a:t>• Bổ sung `style_numbering` vào schema của `template_profile.json` và cập nhật `run.schema.json` tương ứng.</a:t>
            </a:r>
          </a:p>
          <a:p>
            <a:r>
              <a:t>• Nâng tầng QA trong `qa_docx.py`: thêm kiểm tra TOC hyperlink/anchor còn hợp lệ sau build và kiểm tra numbering...</a:t>
            </a:r>
          </a:p>
          <a:p>
            <a:r>
              <a:t>• Đánh giá khả năng dùng **batch mode** thay resident mode cho build step để tránh vấn đề mở/đóng file nhiều lần gây...</a:t>
            </a:r>
          </a:p>
        </p:txBody>
      </p:sp>
      <p:sp>
        <p:nvSpPr>
          <p:cNvPr id="24" name="Google Shape;24;p34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102" name="Google Shape;102;g3d1b52a876f_0_0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g3d1b52a876f_0_0"/>
          <p:cNvSpPr txBox="1"/>
          <p:nvPr/>
        </p:nvSpPr>
        <p:spPr>
          <a:xfrm>
            <a:off x="8910879" y="6492240"/>
            <a:ext cx="2170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Trong-Nghia Nguyen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3d1b52a876f_0_0"/>
          <p:cNvSpPr txBox="1"/>
          <p:nvPr>
            <p:ph type="sldNum" idx="12"/>
          </p:nvPr>
        </p:nvSpPr>
        <p:spPr>
          <a:xfrm>
            <a:off x="9448800" y="651619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23" name="Google Shape;23;p34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lang="en-US"/>
          </a:p>
        </p:txBody>
      </p:sp>
      <p:sp>
        <p:nvSpPr>
          <p:cNvPr id="24" name="Google Shape;24;p34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102" name="Google Shape;102;g3d1b52a876f_0_0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g3d1b52a876f_0_0"/>
          <p:cNvSpPr txBox="1"/>
          <p:nvPr/>
        </p:nvSpPr>
        <p:spPr>
          <a:xfrm>
            <a:off x="8910879" y="6492240"/>
            <a:ext cx="2170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Trong-Nghia Nguyen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3d1b52a876f_0_0"/>
          <p:cNvSpPr txBox="1"/>
          <p:nvPr>
            <p:ph type="sldNum" idx="12"/>
          </p:nvPr>
        </p:nvSpPr>
        <p:spPr>
          <a:xfrm>
            <a:off x="9448800" y="651619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5" name="Google Shape;105;g3d1b52a876f_0_0"/>
          <p:cNvSpPr txBox="1"/>
          <p:nvPr/>
        </p:nvSpPr>
        <p:spPr>
          <a:xfrm>
            <a:off x="-4527" y="6492250"/>
            <a:ext cx="18765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Time-series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" name="Google Shape;106;g3d1b52a876f_0_0"/>
          <p:cNvSpPr txBox="1"/>
          <p:nvPr/>
        </p:nvSpPr>
        <p:spPr>
          <a:xfrm>
            <a:off x="0" y="159240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Nội dung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g3d1b52a876f_0_0"/>
          <p:cNvSpPr txBox="1"/>
          <p:nvPr/>
        </p:nvSpPr>
        <p:spPr>
          <a:xfrm>
            <a:off x="1146149" y="957223"/>
            <a:ext cx="9975300" cy="246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200"/>
              <a:buFont typeface="Times New Roman"/>
              <a:buChar char="•"/>
            </a:pPr>
            <a:r>
              <a:rPr lang="en-US" sz="2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Giới thiệu</a:t>
            </a:r>
            <a:endParaRPr sz="22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marR="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200"/>
              <a:buFont typeface="Times New Roman"/>
              <a:buChar char="+"/>
            </a:pPr>
            <a:r>
              <a:rPr lang="en-US" sz="2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Background</a:t>
            </a:r>
            <a:endParaRPr sz="22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marR="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200"/>
              <a:buFont typeface="Times New Roman"/>
              <a:buChar char="+"/>
            </a:pPr>
            <a:r>
              <a:rPr lang="en-US" sz="2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Previous Research</a:t>
            </a:r>
            <a:endParaRPr sz="22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200"/>
              <a:buFont typeface="Times New Roman"/>
              <a:buChar char="•"/>
            </a:pPr>
            <a:r>
              <a:rPr lang="en-US" sz="2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Vấn đề liên quan</a:t>
            </a:r>
            <a:endParaRPr sz="2200" b="0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200"/>
              <a:buFont typeface="Times New Roman"/>
              <a:buChar char="•"/>
            </a:pPr>
            <a:r>
              <a:rPr lang="en-US" sz="2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Phương pháp thực hiện</a:t>
            </a:r>
            <a:endParaRPr sz="2200" b="0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200"/>
              <a:buFont typeface="Times New Roman"/>
              <a:buChar char="•"/>
            </a:pPr>
            <a:r>
              <a:rPr lang="en-US" sz="2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Thí nghiệm và đánh giá kết quả</a:t>
            </a:r>
            <a:endParaRPr sz="2200" b="0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sz="2200" b="0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2025-03-17T07:41:48Z</dcterms:creat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1.0.100</vt:lpwstr>
  </op:property>
  <op:property fmtid="{D5CDD505-2E9C-101B-9397-08002B2CF9AE}" pid="3" name="OfficeCLI.LastModified">
    <vt:lpwstr xmlns:vt="http://schemas.openxmlformats.org/officeDocument/2006/docPropsVTypes">2026-05-28T10:26:51Z</vt:lpwstr>
  </op:property>
</op:Properties>
</file>